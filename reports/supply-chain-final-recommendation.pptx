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4" name="Shape 2"/>
          <p:cNvSpPr/>
          <p:nvPr/>
        </p:nvSpPr>
        <p:spPr>
          <a:xfrm>
            <a:off x="6000750" y="0"/>
            <a:ext cx="3143250" cy="5143500"/>
          </a:xfrm>
          <a:prstGeom prst="rect">
            <a:avLst/>
          </a:prstGeom>
          <a:solidFill>
            <a:srgbClr val="193C37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523875"/>
            <a:ext cx="342900" cy="42863"/>
          </a:xfrm>
          <a:prstGeom prst="rect">
            <a:avLst/>
          </a:prstGeom>
          <a:solidFill>
            <a:srgbClr val="C65B3F"/>
          </a:solidFill>
          <a:ln/>
        </p:spPr>
      </p:sp>
      <p:sp>
        <p:nvSpPr>
          <p:cNvPr id="6" name="coverEyebrow"/>
          <p:cNvSpPr/>
          <p:nvPr/>
        </p:nvSpPr>
        <p:spPr>
          <a:xfrm>
            <a:off x="571500" y="690562"/>
            <a:ext cx="4762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0" b="1" spc="113" kern="0" dirty="0">
                <a:solidFill>
                  <a:srgbClr val="C65B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SUPPLY CHAIN DECISION BRIEF</a:t>
            </a:r>
            <a:endParaRPr lang="en-US" sz="1280" dirty="0"/>
          </a:p>
        </p:txBody>
      </p:sp>
      <p:sp>
        <p:nvSpPr>
          <p:cNvPr id="7" name="coverTitle"/>
          <p:cNvSpPr/>
          <p:nvPr/>
        </p:nvSpPr>
        <p:spPr>
          <a:xfrm>
            <a:off x="571500" y="1323975"/>
            <a:ext cx="51911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Protect margin.</a:t>
            </a:r>
            <a:endParaRPr lang="en-US" sz="3600" dirty="0"/>
          </a:p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Fix delivery promises.</a:t>
            </a:r>
            <a:endParaRPr lang="en-US" sz="3600" dirty="0"/>
          </a:p>
        </p:txBody>
      </p:sp>
      <p:sp>
        <p:nvSpPr>
          <p:cNvPr id="8" name="coverSubtitle"/>
          <p:cNvSpPr/>
          <p:nvPr/>
        </p:nvSpPr>
        <p:spPr>
          <a:xfrm>
            <a:off x="571500" y="2619375"/>
            <a:ext cx="4953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3"/>
              </a:lnSpc>
              <a:buNone/>
            </a:pPr>
            <a:r>
              <a:rPr lang="en-US" sz="165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practical decision plan from historical DataCo order data.</a:t>
            </a:r>
            <a:endParaRPr lang="en-US" sz="1650" dirty="0"/>
          </a:p>
        </p:txBody>
      </p:sp>
      <p:sp>
        <p:nvSpPr>
          <p:cNvPr id="9" name="coverScope"/>
          <p:cNvSpPr/>
          <p:nvPr/>
        </p:nvSpPr>
        <p:spPr>
          <a:xfrm>
            <a:off x="571500" y="4419600"/>
            <a:ext cx="5143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0" b="1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180,519 order lines · 65,752 orders · Jan 2015–Jan 2018</a:t>
            </a:r>
            <a:endParaRPr lang="en-US" sz="1280" dirty="0"/>
          </a:p>
        </p:txBody>
      </p:sp>
      <p:sp>
        <p:nvSpPr>
          <p:cNvPr id="10" name="coverPanelLabel"/>
          <p:cNvSpPr/>
          <p:nvPr/>
        </p:nvSpPr>
        <p:spPr>
          <a:xfrm>
            <a:off x="6286500" y="1133475"/>
            <a:ext cx="2476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0" b="1" spc="90" kern="0" dirty="0">
                <a:solidFill>
                  <a:srgbClr val="FBF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HISTORICAL MARGIN</a:t>
            </a:r>
            <a:endParaRPr lang="en-US" sz="1280" dirty="0"/>
          </a:p>
        </p:txBody>
      </p:sp>
      <p:sp>
        <p:nvSpPr>
          <p:cNvPr id="11" name="coverStat"/>
          <p:cNvSpPr/>
          <p:nvPr/>
        </p:nvSpPr>
        <p:spPr>
          <a:xfrm>
            <a:off x="6262688" y="1476375"/>
            <a:ext cx="27146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97"/>
              </a:lnSpc>
              <a:buNone/>
            </a:pPr>
            <a:r>
              <a:rPr lang="en-US" sz="4950" b="1" dirty="0">
                <a:solidFill>
                  <a:srgbClr val="FBF8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12.00%</a:t>
            </a:r>
            <a:endParaRPr lang="en-US" sz="4950" dirty="0"/>
          </a:p>
        </p:txBody>
      </p:sp>
      <p:sp>
        <p:nvSpPr>
          <p:cNvPr id="12" name="Shape 10"/>
          <p:cNvSpPr/>
          <p:nvPr/>
        </p:nvSpPr>
        <p:spPr>
          <a:xfrm>
            <a:off x="6286500" y="2381250"/>
            <a:ext cx="523875" cy="38100"/>
          </a:xfrm>
          <a:prstGeom prst="rect">
            <a:avLst/>
          </a:prstGeom>
          <a:solidFill>
            <a:srgbClr val="C65B3F"/>
          </a:solidFill>
          <a:ln/>
        </p:spPr>
      </p:sp>
      <p:sp>
        <p:nvSpPr>
          <p:cNvPr id="13" name="coverPanelNote"/>
          <p:cNvSpPr/>
          <p:nvPr/>
        </p:nvSpPr>
        <p:spPr>
          <a:xfrm>
            <a:off x="6286500" y="2643188"/>
            <a:ext cx="2381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650" dirty="0">
                <a:solidFill>
                  <a:srgbClr val="FBF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Protect margin already earned and align delivery promises with actual operations.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371475"/>
            <a:ext cx="295275" cy="38100"/>
          </a:xfrm>
          <a:prstGeom prst="rect">
            <a:avLst/>
          </a:prstGeom>
          <a:solidFill>
            <a:srgbClr val="C65B3F"/>
          </a:solidFill>
          <a:ln/>
        </p:spPr>
      </p:sp>
      <p:sp>
        <p:nvSpPr>
          <p:cNvPr id="5" name="slideTitle"/>
          <p:cNvSpPr/>
          <p:nvPr/>
        </p:nvSpPr>
        <p:spPr>
          <a:xfrm>
            <a:off x="571500" y="5334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Protect the $33M revenue base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71500" y="1323975"/>
            <a:ext cx="3810000" cy="1000125"/>
          </a:xfrm>
          <a:prstGeom prst="roundRect">
            <a:avLst>
              <a:gd name="adj" fmla="val 6667"/>
            </a:avLst>
          </a:prstGeom>
          <a:solidFill>
            <a:srgbClr val="E5EAE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1323975"/>
            <a:ext cx="4000500" cy="1000125"/>
          </a:xfrm>
          <a:prstGeom prst="roundRect">
            <a:avLst>
              <a:gd name="adj" fmla="val 6667"/>
            </a:avLst>
          </a:prstGeom>
          <a:solidFill>
            <a:srgbClr val="E5EAE2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2476500"/>
            <a:ext cx="3810000" cy="1000125"/>
          </a:xfrm>
          <a:prstGeom prst="roundRect">
            <a:avLst>
              <a:gd name="adj" fmla="val 6667"/>
            </a:avLst>
          </a:prstGeom>
          <a:solidFill>
            <a:srgbClr val="E5EAE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476500"/>
            <a:ext cx="4000500" cy="1000125"/>
          </a:xfrm>
          <a:prstGeom prst="roundRect">
            <a:avLst>
              <a:gd name="adj" fmla="val 6667"/>
            </a:avLst>
          </a:prstGeom>
          <a:solidFill>
            <a:srgbClr val="E5EAE2"/>
          </a:solidFill>
          <a:ln/>
        </p:spPr>
      </p:sp>
      <p:sp>
        <p:nvSpPr>
          <p:cNvPr id="10" name="salesValue"/>
          <p:cNvSpPr/>
          <p:nvPr/>
        </p:nvSpPr>
        <p:spPr>
          <a:xfrm>
            <a:off x="752475" y="1428750"/>
            <a:ext cx="33337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8"/>
              </a:lnSpc>
              <a:buNone/>
            </a:pPr>
            <a:r>
              <a:rPr lang="en-US" sz="435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$33.05M</a:t>
            </a:r>
            <a:endParaRPr lang="en-US" sz="4350" dirty="0"/>
          </a:p>
        </p:txBody>
      </p:sp>
      <p:sp>
        <p:nvSpPr>
          <p:cNvPr id="11" name="salesLabel"/>
          <p:cNvSpPr/>
          <p:nvPr/>
        </p:nvSpPr>
        <p:spPr>
          <a:xfrm>
            <a:off x="752475" y="2057400"/>
            <a:ext cx="3333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SALES · historical total</a:t>
            </a:r>
            <a:endParaRPr lang="en-US" sz="1350" dirty="0"/>
          </a:p>
        </p:txBody>
      </p:sp>
      <p:sp>
        <p:nvSpPr>
          <p:cNvPr id="12" name="profitValue"/>
          <p:cNvSpPr/>
          <p:nvPr/>
        </p:nvSpPr>
        <p:spPr>
          <a:xfrm>
            <a:off x="4762500" y="1428750"/>
            <a:ext cx="33337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8"/>
              </a:lnSpc>
              <a:buNone/>
            </a:pPr>
            <a:r>
              <a:rPr lang="en-US" sz="435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$3.97M</a:t>
            </a:r>
            <a:endParaRPr lang="en-US" sz="4350" dirty="0"/>
          </a:p>
        </p:txBody>
      </p:sp>
      <p:sp>
        <p:nvSpPr>
          <p:cNvPr id="13" name="profitLabel"/>
          <p:cNvSpPr/>
          <p:nvPr/>
        </p:nvSpPr>
        <p:spPr>
          <a:xfrm>
            <a:off x="4762500" y="2057400"/>
            <a:ext cx="3524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SUPPLIED PROFIT MEASURE</a:t>
            </a:r>
            <a:endParaRPr lang="en-US" sz="1350" dirty="0"/>
          </a:p>
        </p:txBody>
      </p:sp>
      <p:sp>
        <p:nvSpPr>
          <p:cNvPr id="14" name="marginValue"/>
          <p:cNvSpPr/>
          <p:nvPr/>
        </p:nvSpPr>
        <p:spPr>
          <a:xfrm>
            <a:off x="752475" y="2581275"/>
            <a:ext cx="33337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8"/>
              </a:lnSpc>
              <a:buNone/>
            </a:pPr>
            <a:r>
              <a:rPr lang="en-US" sz="435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12.00%</a:t>
            </a:r>
            <a:endParaRPr lang="en-US" sz="4350" dirty="0"/>
          </a:p>
        </p:txBody>
      </p:sp>
      <p:sp>
        <p:nvSpPr>
          <p:cNvPr id="15" name="marginLabel"/>
          <p:cNvSpPr/>
          <p:nvPr/>
        </p:nvSpPr>
        <p:spPr>
          <a:xfrm>
            <a:off x="752475" y="3209925"/>
            <a:ext cx="3333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AGGREGATE NET MARGIN</a:t>
            </a:r>
            <a:endParaRPr lang="en-US" sz="1350" dirty="0"/>
          </a:p>
        </p:txBody>
      </p:sp>
      <p:sp>
        <p:nvSpPr>
          <p:cNvPr id="16" name="lateValue"/>
          <p:cNvSpPr/>
          <p:nvPr/>
        </p:nvSpPr>
        <p:spPr>
          <a:xfrm>
            <a:off x="4762500" y="2581275"/>
            <a:ext cx="33337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68"/>
              </a:lnSpc>
              <a:buNone/>
            </a:pPr>
            <a:r>
              <a:rPr lang="en-US" sz="4350" b="1" dirty="0">
                <a:solidFill>
                  <a:srgbClr val="B34E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54.82%</a:t>
            </a:r>
            <a:endParaRPr lang="en-US" sz="4350" dirty="0"/>
          </a:p>
        </p:txBody>
      </p:sp>
      <p:sp>
        <p:nvSpPr>
          <p:cNvPr id="17" name="lateLabel"/>
          <p:cNvSpPr/>
          <p:nvPr/>
        </p:nvSpPr>
        <p:spPr>
          <a:xfrm>
            <a:off x="4762500" y="3209925"/>
            <a:ext cx="3524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LATE · share of all orders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71500" y="3667125"/>
            <a:ext cx="8001000" cy="857250"/>
          </a:xfrm>
          <a:prstGeom prst="roundRect">
            <a:avLst>
              <a:gd name="adj" fmla="val 7778"/>
            </a:avLst>
          </a:prstGeom>
          <a:solidFill>
            <a:srgbClr val="E5EAE2"/>
          </a:solidFill>
          <a:ln/>
        </p:spPr>
      </p:sp>
      <p:sp>
        <p:nvSpPr>
          <p:cNvPr id="19" name="scopeHeading"/>
          <p:cNvSpPr/>
          <p:nvPr/>
        </p:nvSpPr>
        <p:spPr>
          <a:xfrm>
            <a:off x="742950" y="37719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spc="75" kern="0" dirty="0">
                <a:solidFill>
                  <a:srgbClr val="C65B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SCOPE</a:t>
            </a:r>
            <a:endParaRPr lang="en-US" sz="1200" dirty="0"/>
          </a:p>
        </p:txBody>
      </p:sp>
      <p:sp>
        <p:nvSpPr>
          <p:cNvPr id="20" name="scopeCopy"/>
          <p:cNvSpPr/>
          <p:nvPr/>
        </p:nvSpPr>
        <p:spPr>
          <a:xfrm>
            <a:off x="742950" y="3990975"/>
            <a:ext cx="745331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0"/>
              </a:lnSpc>
              <a:buNone/>
            </a:pPr>
            <a:r>
              <a:rPr lang="en-US" sz="150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180,519 order lines · 65,752 orders · 118 products · Jan 2015–Jan 2018. Source reports 0 nulls and 0 duplicate rows.</a:t>
            </a:r>
            <a:endParaRPr lang="en-US" sz="1500" dirty="0"/>
          </a:p>
        </p:txBody>
      </p:sp>
      <p:sp>
        <p:nvSpPr>
          <p:cNvPr id="21" name="sourceNote"/>
          <p:cNvSpPr/>
          <p:nvPr/>
        </p:nvSpPr>
        <p:spPr>
          <a:xfrm>
            <a:off x="571500" y="4762500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109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Source: yuvrajrgv/supply-chain- report + EDA notebook. Historical data ends Jan 2018.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371475"/>
            <a:ext cx="295275" cy="38100"/>
          </a:xfrm>
          <a:prstGeom prst="rect">
            <a:avLst/>
          </a:prstGeom>
          <a:solidFill>
            <a:srgbClr val="C65B3F"/>
          </a:solidFill>
          <a:ln/>
        </p:spPr>
      </p:sp>
      <p:sp>
        <p:nvSpPr>
          <p:cNvPr id="5" name="slideTitle"/>
          <p:cNvSpPr/>
          <p:nvPr/>
        </p:nvSpPr>
        <p:spPr>
          <a:xfrm>
            <a:off x="571500" y="5334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deepest discount tier is loss-making</a:t>
            </a:r>
            <a:endParaRPr lang="en-US" sz="2700" dirty="0"/>
          </a:p>
        </p:txBody>
      </p:sp>
      <p:sp>
        <p:nvSpPr>
          <p:cNvPr id="6" name="chartLabel"/>
          <p:cNvSpPr/>
          <p:nvPr/>
        </p:nvSpPr>
        <p:spPr>
          <a:xfrm>
            <a:off x="571500" y="1190625"/>
            <a:ext cx="48577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0" b="1" spc="60" kern="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REPORTED PROFIT MARGIN BY DISCOUNT TIER</a:t>
            </a:r>
            <a:endParaRPr lang="en-US" sz="128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63" y="1457325"/>
            <a:ext cx="4762500" cy="2190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34000" y="1362075"/>
            <a:ext cx="3238500" cy="2571750"/>
          </a:xfrm>
          <a:prstGeom prst="roundRect">
            <a:avLst>
              <a:gd name="adj" fmla="val 2593"/>
            </a:avLst>
          </a:prstGeom>
          <a:solidFill>
            <a:srgbClr val="E5EAE2"/>
          </a:solidFill>
          <a:ln/>
        </p:spPr>
      </p:sp>
      <p:sp>
        <p:nvSpPr>
          <p:cNvPr id="9" name="lossTier"/>
          <p:cNvSpPr/>
          <p:nvPr/>
        </p:nvSpPr>
        <p:spPr>
          <a:xfrm>
            <a:off x="5476875" y="1524000"/>
            <a:ext cx="295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3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21–25% tier</a:t>
            </a:r>
            <a:endParaRPr lang="en-US" sz="2030" dirty="0"/>
          </a:p>
        </p:txBody>
      </p:sp>
      <p:sp>
        <p:nvSpPr>
          <p:cNvPr id="10" name="lossStat"/>
          <p:cNvSpPr/>
          <p:nvPr/>
        </p:nvSpPr>
        <p:spPr>
          <a:xfrm>
            <a:off x="5476875" y="1857375"/>
            <a:ext cx="2952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B34E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−$65.2K</a:t>
            </a:r>
            <a:endParaRPr lang="en-US" sz="3600" dirty="0"/>
          </a:p>
        </p:txBody>
      </p:sp>
      <p:sp>
        <p:nvSpPr>
          <p:cNvPr id="11" name="lossDetail"/>
          <p:cNvSpPr/>
          <p:nvPr/>
        </p:nvSpPr>
        <p:spPr>
          <a:xfrm>
            <a:off x="5476875" y="2428875"/>
            <a:ext cx="29527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b="1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Margin −1.89%; loss $65.2K.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52.29% losses across 20,058 lines.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 discounts &gt;20% without approval.</a:t>
            </a:r>
            <a:endParaRPr lang="en-US" sz="1430" dirty="0"/>
          </a:p>
        </p:txBody>
      </p:sp>
      <p:sp>
        <p:nvSpPr>
          <p:cNvPr id="12" name="Shape 9"/>
          <p:cNvSpPr/>
          <p:nvPr/>
        </p:nvSpPr>
        <p:spPr>
          <a:xfrm>
            <a:off x="571500" y="4000500"/>
            <a:ext cx="8001000" cy="523875"/>
          </a:xfrm>
          <a:prstGeom prst="roundRect">
            <a:avLst>
              <a:gd name="adj" fmla="val 12727"/>
            </a:avLst>
          </a:prstGeom>
          <a:solidFill>
            <a:srgbClr val="E5EAE2"/>
          </a:solidFill>
          <a:ln/>
        </p:spPr>
      </p:sp>
      <p:sp>
        <p:nvSpPr>
          <p:cNvPr id="13" name="concentrationCopy"/>
          <p:cNvSpPr/>
          <p:nvPr/>
        </p:nvSpPr>
        <p:spPr>
          <a:xfrm>
            <a:off x="752475" y="4048125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3 categories contribute ~46.8% of sales; top 10 products generate &gt;60%.</a:t>
            </a:r>
            <a:endParaRPr lang="en-US" sz="1430" dirty="0"/>
          </a:p>
        </p:txBody>
      </p:sp>
      <p:sp>
        <p:nvSpPr>
          <p:cNvPr id="14" name="sourceNote"/>
          <p:cNvSpPr/>
          <p:nvPr/>
        </p:nvSpPr>
        <p:spPr>
          <a:xfrm>
            <a:off x="571500" y="4762500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109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Source: project report and README. Discount-tier association is not proof of causation.</a:t>
            </a:r>
            <a:endParaRPr lang="en-US" sz="10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371475"/>
            <a:ext cx="295275" cy="38100"/>
          </a:xfrm>
          <a:prstGeom prst="rect">
            <a:avLst/>
          </a:prstGeom>
          <a:solidFill>
            <a:srgbClr val="C65B3F"/>
          </a:solidFill>
          <a:ln/>
        </p:spPr>
      </p:sp>
      <p:sp>
        <p:nvSpPr>
          <p:cNvPr id="5" name="slideTitle"/>
          <p:cNvSpPr/>
          <p:nvPr/>
        </p:nvSpPr>
        <p:spPr>
          <a:xfrm>
            <a:off x="571500" y="5334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Late deliveries affect over half of orders</a:t>
            </a:r>
            <a:endParaRPr lang="en-US" sz="2700" dirty="0"/>
          </a:p>
        </p:txBody>
      </p:sp>
      <p:sp>
        <p:nvSpPr>
          <p:cNvPr id="6" name="deliveryChartLabel"/>
          <p:cNvSpPr/>
          <p:nvPr/>
        </p:nvSpPr>
        <p:spPr>
          <a:xfrm>
            <a:off x="571500" y="1200150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0" b="1" spc="60" kern="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DISTINCT ORDERS BY DELIVERY STATUS</a:t>
            </a:r>
            <a:endParaRPr lang="en-US" sz="128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38" y="1428750"/>
            <a:ext cx="4953000" cy="23812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7375" y="1362075"/>
            <a:ext cx="2905125" cy="2447925"/>
          </a:xfrm>
          <a:prstGeom prst="roundRect">
            <a:avLst>
              <a:gd name="adj" fmla="val 2724"/>
            </a:avLst>
          </a:prstGeom>
          <a:solidFill>
            <a:srgbClr val="E5EAE2"/>
          </a:solidFill>
          <a:ln/>
        </p:spPr>
      </p:sp>
      <p:sp>
        <p:nvSpPr>
          <p:cNvPr id="9" name="auditHeading"/>
          <p:cNvSpPr/>
          <p:nvPr/>
        </p:nvSpPr>
        <p:spPr>
          <a:xfrm>
            <a:off x="5857875" y="1524000"/>
            <a:ext cx="2524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95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Class audit</a:t>
            </a:r>
            <a:endParaRPr lang="en-US" sz="1950" dirty="0"/>
          </a:p>
        </p:txBody>
      </p:sp>
      <p:sp>
        <p:nvSpPr>
          <p:cNvPr id="10" name="auditCopy"/>
          <p:cNvSpPr/>
          <p:nvPr/>
        </p:nvSpPr>
        <p:spPr>
          <a:xfrm>
            <a:off x="5857875" y="2000250"/>
            <a:ext cx="2524125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b="1" dirty="0">
                <a:solidFill>
                  <a:srgbClr val="B34E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Report: 91.56%; notebook: 100%.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Average transit: 2.45d vs 1-day promise.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denominator; align promise with current transit.</a:t>
            </a:r>
            <a:endParaRPr lang="en-US" sz="1430" dirty="0"/>
          </a:p>
        </p:txBody>
      </p:sp>
      <p:sp>
        <p:nvSpPr>
          <p:cNvPr id="11" name="cancellationNote"/>
          <p:cNvSpPr/>
          <p:nvPr/>
        </p:nvSpPr>
        <p:spPr>
          <a:xfrm>
            <a:off x="571500" y="394335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Late: 36,047 (54.82% all; 57.33% completed). Canceled: 2,879 (4.38%). Pilot a 24-hour dispatch alert.</a:t>
            </a:r>
            <a:endParaRPr lang="en-US" sz="1500" dirty="0"/>
          </a:p>
        </p:txBody>
      </p:sp>
      <p:sp>
        <p:nvSpPr>
          <p:cNvPr id="12" name="sourceNote"/>
          <p:cNvSpPr/>
          <p:nvPr/>
        </p:nvSpPr>
        <p:spPr>
          <a:xfrm>
            <a:off x="571500" y="4762500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109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Source: project report and notebook. First Class 91.56% vs 100% remains unresolved.</a:t>
            </a:r>
            <a:endParaRPr lang="en-US" sz="10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371475"/>
            <a:ext cx="295275" cy="38100"/>
          </a:xfrm>
          <a:prstGeom prst="rect">
            <a:avLst/>
          </a:prstGeom>
          <a:solidFill>
            <a:srgbClr val="C65B3F"/>
          </a:solidFill>
          <a:ln/>
        </p:spPr>
      </p:sp>
      <p:sp>
        <p:nvSpPr>
          <p:cNvPr id="5" name="slideTitle"/>
          <p:cNvSpPr/>
          <p:nvPr/>
        </p:nvSpPr>
        <p:spPr>
          <a:xfrm>
            <a:off x="571500" y="5334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Validate, pilot, then scale over 90 days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71500" y="1333500"/>
            <a:ext cx="2476500" cy="3095625"/>
          </a:xfrm>
          <a:prstGeom prst="roundRect">
            <a:avLst>
              <a:gd name="adj" fmla="val 2692"/>
            </a:avLst>
          </a:prstGeom>
          <a:solidFill>
            <a:srgbClr val="E5EAE2"/>
          </a:solidFill>
          <a:ln/>
        </p:spPr>
      </p:sp>
      <p:sp>
        <p:nvSpPr>
          <p:cNvPr id="7" name="Shape 5"/>
          <p:cNvSpPr/>
          <p:nvPr/>
        </p:nvSpPr>
        <p:spPr>
          <a:xfrm>
            <a:off x="3333750" y="1333500"/>
            <a:ext cx="2476500" cy="3095625"/>
          </a:xfrm>
          <a:prstGeom prst="roundRect">
            <a:avLst>
              <a:gd name="adj" fmla="val 2692"/>
            </a:avLst>
          </a:prstGeom>
          <a:solidFill>
            <a:srgbClr val="E5EAE2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0" y="1333500"/>
            <a:ext cx="2476500" cy="3095625"/>
          </a:xfrm>
          <a:prstGeom prst="roundRect">
            <a:avLst>
              <a:gd name="adj" fmla="val 2692"/>
            </a:avLst>
          </a:prstGeom>
          <a:solidFill>
            <a:srgbClr val="E5EAE2"/>
          </a:solidFill>
          <a:ln/>
        </p:spPr>
      </p:sp>
      <p:sp>
        <p:nvSpPr>
          <p:cNvPr id="9" name="step1Kicker"/>
          <p:cNvSpPr/>
          <p:nvPr/>
        </p:nvSpPr>
        <p:spPr>
          <a:xfrm>
            <a:off x="752475" y="1524000"/>
            <a:ext cx="2114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spc="45" kern="0" dirty="0">
                <a:solidFill>
                  <a:srgbClr val="C65B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 01 · DAYS 0–14</a:t>
            </a:r>
            <a:endParaRPr lang="en-US" sz="1200" dirty="0"/>
          </a:p>
        </p:txBody>
      </p:sp>
      <p:sp>
        <p:nvSpPr>
          <p:cNvPr id="10" name="step1Title"/>
          <p:cNvSpPr/>
          <p:nvPr/>
        </p:nvSpPr>
        <p:spPr>
          <a:xfrm>
            <a:off x="752475" y="1771650"/>
            <a:ext cx="21145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Baseline first</a:t>
            </a:r>
            <a:endParaRPr lang="en-US" sz="1800" dirty="0"/>
          </a:p>
        </p:txBody>
      </p:sp>
      <p:sp>
        <p:nvSpPr>
          <p:cNvPr id="11" name="step1Body"/>
          <p:cNvSpPr/>
          <p:nvPr/>
        </p:nvSpPr>
        <p:spPr>
          <a:xfrm>
            <a:off x="752475" y="2190750"/>
            <a:ext cx="21145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Resolve First Class 91.56% vs 100%.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Recompute late rate per unique order.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Refresh 12 months of actual data.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Exclude simulations; note cost/customer gaps.</a:t>
            </a:r>
            <a:endParaRPr lang="en-US" sz="1430" dirty="0"/>
          </a:p>
        </p:txBody>
      </p:sp>
      <p:sp>
        <p:nvSpPr>
          <p:cNvPr id="12" name="step2Kicker"/>
          <p:cNvSpPr/>
          <p:nvPr/>
        </p:nvSpPr>
        <p:spPr>
          <a:xfrm>
            <a:off x="3514725" y="1524000"/>
            <a:ext cx="2114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spc="45" kern="0" dirty="0">
                <a:solidFill>
                  <a:srgbClr val="C65B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 02 · DAYS 15–45</a:t>
            </a:r>
            <a:endParaRPr lang="en-US" sz="1200" dirty="0"/>
          </a:p>
        </p:txBody>
      </p:sp>
      <p:sp>
        <p:nvSpPr>
          <p:cNvPr id="13" name="step2Title"/>
          <p:cNvSpPr/>
          <p:nvPr/>
        </p:nvSpPr>
        <p:spPr>
          <a:xfrm>
            <a:off x="3514725" y="1771650"/>
            <a:ext cx="21145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 controls</a:t>
            </a:r>
            <a:endParaRPr lang="en-US" sz="1800" dirty="0"/>
          </a:p>
        </p:txBody>
      </p:sp>
      <p:sp>
        <p:nvSpPr>
          <p:cNvPr id="14" name="step2Body"/>
          <p:cNvSpPr/>
          <p:nvPr/>
        </p:nvSpPr>
        <p:spPr>
          <a:xfrm>
            <a:off x="3514725" y="2190750"/>
            <a:ext cx="21145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Commercial: gate discounts above 20%.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Fulfillment: alert at 24 hours unshipped.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Carrier: calibrate promise to current transit.</a:t>
            </a:r>
            <a:endParaRPr lang="en-US" sz="1430" dirty="0"/>
          </a:p>
        </p:txBody>
      </p:sp>
      <p:sp>
        <p:nvSpPr>
          <p:cNvPr id="15" name="step3Kicker"/>
          <p:cNvSpPr/>
          <p:nvPr/>
        </p:nvSpPr>
        <p:spPr>
          <a:xfrm>
            <a:off x="6276975" y="1524000"/>
            <a:ext cx="2114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spc="45" kern="0" dirty="0">
                <a:solidFill>
                  <a:srgbClr val="C65B3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 03 · DAYS 46–90</a:t>
            </a:r>
            <a:endParaRPr lang="en-US" sz="1200" dirty="0"/>
          </a:p>
        </p:txBody>
      </p:sp>
      <p:sp>
        <p:nvSpPr>
          <p:cNvPr id="16" name="step3Title"/>
          <p:cNvSpPr/>
          <p:nvPr/>
        </p:nvSpPr>
        <p:spPr>
          <a:xfrm>
            <a:off x="6276975" y="1771650"/>
            <a:ext cx="21145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Scale evidence</a:t>
            </a:r>
            <a:endParaRPr lang="en-US" sz="1800" dirty="0"/>
          </a:p>
        </p:txBody>
      </p:sp>
      <p:sp>
        <p:nvSpPr>
          <p:cNvPr id="17" name="step3Body"/>
          <p:cNvSpPr/>
          <p:nvPr/>
        </p:nvSpPr>
        <p:spPr>
          <a:xfrm>
            <a:off x="6276975" y="2190750"/>
            <a:ext cx="21145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Finance: compare profit vs holdout.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45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Ops: validate stock on priority products.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 only if profit rises without service harm.</a:t>
            </a:r>
            <a:endParaRPr lang="en-US" sz="1430" dirty="0"/>
          </a:p>
        </p:txBody>
      </p:sp>
      <p:sp>
        <p:nvSpPr>
          <p:cNvPr id="18" name="sourceNote"/>
          <p:cNvSpPr/>
          <p:nvPr/>
        </p:nvSpPr>
        <p:spPr>
          <a:xfrm>
            <a:off x="571500" y="4762500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109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Proposed owners and sequence. Refresh the current baseline during the first two weeks.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0E6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" y="371475"/>
            <a:ext cx="295275" cy="38100"/>
          </a:xfrm>
          <a:prstGeom prst="rect">
            <a:avLst/>
          </a:prstGeom>
          <a:solidFill>
            <a:srgbClr val="C65B3F"/>
          </a:solidFill>
          <a:ln/>
        </p:spPr>
      </p:sp>
      <p:sp>
        <p:nvSpPr>
          <p:cNvPr id="5" name="slideTitle"/>
          <p:cNvSpPr/>
          <p:nvPr/>
        </p:nvSpPr>
        <p:spPr>
          <a:xfrm>
            <a:off x="571500" y="533400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Approve pilots; scale only on audited results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71500" y="1323975"/>
            <a:ext cx="2476500" cy="2809875"/>
          </a:xfrm>
          <a:prstGeom prst="roundRect">
            <a:avLst>
              <a:gd name="adj" fmla="val 2692"/>
            </a:avLst>
          </a:prstGeom>
          <a:solidFill>
            <a:srgbClr val="E5EAE2"/>
          </a:solidFill>
          <a:ln/>
        </p:spPr>
      </p:sp>
      <p:sp>
        <p:nvSpPr>
          <p:cNvPr id="7" name="Shape 5"/>
          <p:cNvSpPr/>
          <p:nvPr/>
        </p:nvSpPr>
        <p:spPr>
          <a:xfrm>
            <a:off x="3333750" y="1323975"/>
            <a:ext cx="2476500" cy="2809875"/>
          </a:xfrm>
          <a:prstGeom prst="roundRect">
            <a:avLst>
              <a:gd name="adj" fmla="val 2692"/>
            </a:avLst>
          </a:prstGeom>
          <a:solidFill>
            <a:srgbClr val="E5EAE2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0" y="1323975"/>
            <a:ext cx="2476500" cy="2809875"/>
          </a:xfrm>
          <a:prstGeom prst="roundRect">
            <a:avLst>
              <a:gd name="adj" fmla="val 2692"/>
            </a:avLst>
          </a:prstGeom>
          <a:solidFill>
            <a:srgbClr val="E5EAE2"/>
          </a:solidFill>
          <a:ln/>
        </p:spPr>
      </p:sp>
      <p:sp>
        <p:nvSpPr>
          <p:cNvPr id="9" name="marginHeading"/>
          <p:cNvSpPr/>
          <p:nvPr/>
        </p:nvSpPr>
        <p:spPr>
          <a:xfrm>
            <a:off x="752475" y="1514475"/>
            <a:ext cx="21145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88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  Margin</a:t>
            </a:r>
            <a:endParaRPr lang="en-US" sz="1880" dirty="0"/>
          </a:p>
        </p:txBody>
      </p:sp>
      <p:sp>
        <p:nvSpPr>
          <p:cNvPr id="10" name="marginBody"/>
          <p:cNvSpPr/>
          <p:nvPr/>
        </p:nvSpPr>
        <p:spPr>
          <a:xfrm>
            <a:off x="752475" y="1943100"/>
            <a:ext cx="21145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 unapproved discounts &gt;20%; log exceptions.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KPI: tier loss-line share (baseline 52.29%).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gate: halve vs holdout; track conversion.</a:t>
            </a:r>
            <a:endParaRPr lang="en-US" sz="1430" dirty="0"/>
          </a:p>
        </p:txBody>
      </p:sp>
      <p:sp>
        <p:nvSpPr>
          <p:cNvPr id="11" name="serviceHeading"/>
          <p:cNvSpPr/>
          <p:nvPr/>
        </p:nvSpPr>
        <p:spPr>
          <a:xfrm>
            <a:off x="3514725" y="1514475"/>
            <a:ext cx="21145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88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 Delivery</a:t>
            </a:r>
            <a:endParaRPr lang="en-US" sz="1880" dirty="0"/>
          </a:p>
        </p:txBody>
      </p:sp>
      <p:sp>
        <p:nvSpPr>
          <p:cNvPr id="12" name="serviceBody"/>
          <p:cNvSpPr/>
          <p:nvPr/>
        </p:nvSpPr>
        <p:spPr>
          <a:xfrm>
            <a:off x="3514725" y="1943100"/>
            <a:ext cx="2114550" cy="208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Reset promises with current transit data.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KPI: hit rate; pilot gate +10 pp vs baseline.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cancellations separately (historical 4.38%).</a:t>
            </a:r>
            <a:endParaRPr lang="en-US" sz="1430" dirty="0"/>
          </a:p>
        </p:txBody>
      </p:sp>
      <p:sp>
        <p:nvSpPr>
          <p:cNvPr id="13" name="availabilityHeading"/>
          <p:cNvSpPr/>
          <p:nvPr/>
        </p:nvSpPr>
        <p:spPr>
          <a:xfrm>
            <a:off x="6276975" y="1514475"/>
            <a:ext cx="21145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3"/>
              </a:lnSpc>
              <a:buNone/>
            </a:pPr>
            <a:r>
              <a:rPr lang="en-US" sz="1880" b="1" dirty="0">
                <a:solidFill>
                  <a:srgbClr val="193C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  Stock</a:t>
            </a:r>
            <a:endParaRPr lang="en-US" sz="1880" dirty="0"/>
          </a:p>
        </p:txBody>
      </p:sp>
      <p:sp>
        <p:nvSpPr>
          <p:cNvPr id="14" name="availabilityBody"/>
          <p:cNvSpPr/>
          <p:nvPr/>
        </p:nvSpPr>
        <p:spPr>
          <a:xfrm>
            <a:off x="6276975" y="1943100"/>
            <a:ext cx="2114550" cy="208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Prioritize stock after demand review.</a:t>
            </a:r>
            <a:endParaRPr lang="en-US" sz="1430" dirty="0"/>
          </a:p>
          <a:p>
            <a:pPr marL="0" indent="0" algn="l">
              <a:lnSpc>
                <a:spcPts val="1710"/>
              </a:lnSpc>
              <a:spcAft>
                <a:spcPts val="600"/>
              </a:spcAft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 fill-rate floor after a 2-week baseline.</a:t>
            </a:r>
            <a:endParaRPr lang="en-US" sz="143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430" dirty="0">
                <a:solidFill>
                  <a:srgbClr val="193C3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3 categories ~46.8%; top 10 products &gt;60%.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571500" y="4219575"/>
            <a:ext cx="8001000" cy="438150"/>
          </a:xfrm>
          <a:prstGeom prst="roundRect">
            <a:avLst>
              <a:gd name="adj" fmla="val 15217"/>
            </a:avLst>
          </a:prstGeom>
          <a:solidFill>
            <a:srgbClr val="193C37"/>
          </a:solidFill>
          <a:ln/>
        </p:spPr>
      </p:sp>
      <p:sp>
        <p:nvSpPr>
          <p:cNvPr id="16" name="decisionCopy"/>
          <p:cNvSpPr/>
          <p:nvPr/>
        </p:nvSpPr>
        <p:spPr>
          <a:xfrm>
            <a:off x="752475" y="4295775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BF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· 90-day pilots; scale on audited profit and service lift.</a:t>
            </a:r>
            <a:endParaRPr lang="en-US" sz="1500" dirty="0"/>
          </a:p>
        </p:txBody>
      </p:sp>
      <p:sp>
        <p:nvSpPr>
          <p:cNvPr id="17" name="sourceNote"/>
          <p:cNvSpPr/>
          <p:nvPr/>
        </p:nvSpPr>
        <p:spPr>
          <a:xfrm>
            <a:off x="571500" y="4762500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1090" dirty="0">
                <a:solidFill>
                  <a:srgbClr val="65756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gates are proposals, not forecasts. Source ends Jan 2018; no customer IDs or full landed costs.</a:t>
            </a:r>
            <a:endParaRPr lang="en-US" sz="10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2026-10-16T20:34:31Z</dcterms:created>
  <dcterms:modified xsi:type="dcterms:W3CDTF">2026-10-16T20:34:31Z</dcterms:modified>
</cp:coreProperties>
</file>